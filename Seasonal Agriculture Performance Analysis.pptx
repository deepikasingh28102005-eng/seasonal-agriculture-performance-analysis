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rebuchet MS" charset="1" panose="020B0603020202020204"/>
      <p:regular r:id="rId20"/>
    </p:embeddedFont>
    <p:embeddedFont>
      <p:font typeface="Trebuchet MS Bold" charset="1" panose="020B0703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463" y="2074212"/>
            <a:ext cx="1844345" cy="1589961"/>
            <a:chOff x="0" y="0"/>
            <a:chExt cx="2459126" cy="21199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632542" y="1791929"/>
            <a:ext cx="2499246" cy="2154517"/>
            <a:chOff x="0" y="0"/>
            <a:chExt cx="3332328" cy="2872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43469" y="7947890"/>
            <a:ext cx="1077392" cy="928783"/>
            <a:chOff x="0" y="0"/>
            <a:chExt cx="1436522" cy="12383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56754" y="1651959"/>
            <a:ext cx="977417" cy="842601"/>
            <a:chOff x="0" y="0"/>
            <a:chExt cx="1303223" cy="11234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73103" y="5875081"/>
            <a:ext cx="778653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Deepika Singh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Jaypee University of Information Technology (JUIT), Solan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3103" y="3969023"/>
            <a:ext cx="7315200" cy="145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Agriculture Performance Analysis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673103" y="7621563"/>
            <a:ext cx="7723296" cy="41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AICTE STU ID : STU6a42109bdaccf1782714523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28700" y="2652629"/>
            <a:ext cx="11373212" cy="561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238" indent="-258619" lvl="1">
              <a:lnSpc>
                <a:spcPts val="4458"/>
              </a:lnSpc>
              <a:buFont typeface="Arial"/>
              <a:buChar char="•"/>
            </a:pPr>
            <a:r>
              <a:rPr lang="en-US" sz="2858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performance is shaped by seasonal shifts in rainfall, temperature, humidity and resource use — but raw farm-level data alone does not reveal how yield, cost and profitability actually change across seasons.</a:t>
            </a:r>
          </a:p>
          <a:p>
            <a:pPr algn="l" marL="517238" indent="-258619" lvl="1">
              <a:lnSpc>
                <a:spcPts val="4458"/>
              </a:lnSpc>
              <a:buFont typeface="Arial"/>
              <a:buChar char="•"/>
            </a:pPr>
            <a:r>
              <a:rPr lang="en-US" sz="2858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This project analyzes a multi-state seasonal farming dataset (4,000 farm records) to uncover meaningful seasonal patterns, trends, relationships and variations in agricultural performance.</a:t>
            </a:r>
          </a:p>
          <a:p>
            <a:pPr algn="l" marL="517238" indent="-258619" lvl="1">
              <a:lnSpc>
                <a:spcPts val="4458"/>
              </a:lnSpc>
              <a:buFont typeface="Arial"/>
              <a:buChar char="•"/>
            </a:pPr>
            <a:r>
              <a:rPr lang="en-US" sz="2858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 is to move from raw data to evidence-based insight — identifying which seasons, crops and practices perform best, and why — to support better seasonal agricultural planning.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3343" y="861822"/>
            <a:ext cx="10310527" cy="110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 STATEMENT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993528" y="4396254"/>
            <a:ext cx="4141137" cy="4896612"/>
            <a:chOff x="0" y="0"/>
            <a:chExt cx="5521516" cy="65288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11969" y="739196"/>
            <a:ext cx="11248334" cy="799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Description</a:t>
            </a:r>
          </a:p>
          <a:p>
            <a:pPr algn="l">
              <a:lnSpc>
                <a:spcPts val="7776"/>
              </a:lnSpc>
            </a:pPr>
          </a:p>
          <a:p>
            <a:pPr algn="l">
              <a:lnSpc>
                <a:spcPts val="2915"/>
              </a:lnSpc>
            </a:pPr>
          </a:p>
          <a:p>
            <a:pPr algn="l">
              <a:lnSpc>
                <a:spcPts val="3790"/>
              </a:lnSpc>
            </a:pPr>
            <a:r>
              <a:rPr lang="en-US" sz="242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This project applies exploratory data analysis and visualization to a dataset of 4,000 farm records spanning three cropping seasons — Kharif, Rabi and Zaid — across 8 states, 10 districts and 8 crops.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242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Using Python (Pandas, NumPy, Matplotlib, Seaborn) in a Jupyter Notebook, the raw data is cleaned, explored and analyzed to compare yield, cost, revenue, profit, resource usage (water, fertilizer, pesticide) and disease/pest risk across seasons, crops, states and irrigation methods.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242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Correlation analysis and comparative visualizations are used to surface the strongest drivers of seasonal performance and translate them into practical, data-driven recommendations.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57647" y="2821545"/>
            <a:ext cx="13544007" cy="587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68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Farmers &amp; agricultural cooperatives — choosing the right crop, irrigation method and inputs for each season</a:t>
            </a:r>
          </a:p>
          <a:p>
            <a:pPr algn="l" marL="542925" indent="-271462" lvl="1">
              <a:lnSpc>
                <a:spcPts val="468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State agriculture departments &amp; policymakers — seasonal planning, resource allocation and subsidy targeting</a:t>
            </a:r>
          </a:p>
          <a:p>
            <a:pPr algn="l" marL="542925" indent="-271462" lvl="1">
              <a:lnSpc>
                <a:spcPts val="468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Agri-fintech &amp; crop-insurance providers — season- and crop-based risk assessment and pricing</a:t>
            </a:r>
          </a:p>
          <a:p>
            <a:pPr algn="l" marL="542925" indent="-271462" lvl="1">
              <a:lnSpc>
                <a:spcPts val="468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Agribusiness &amp; supply-chain planners — anticipating seasonal production, pricing and demand shifts</a:t>
            </a:r>
          </a:p>
          <a:p>
            <a:pPr algn="l" marL="542925" indent="-271462" lvl="1">
              <a:lnSpc>
                <a:spcPts val="4680"/>
              </a:lnSpc>
              <a:buFont typeface="Arial"/>
              <a:buChar char="•"/>
            </a:pPr>
            <a:r>
              <a:rPr lang="en-US" sz="300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researchers &amp; students — benchmarking and studying seasonal performance trends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1451" y="1351121"/>
            <a:ext cx="14886222" cy="99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82040" y="9265206"/>
            <a:ext cx="3271838" cy="728662"/>
            <a:chOff x="0" y="0"/>
            <a:chExt cx="4362450" cy="971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62450" cy="971550"/>
            </a:xfrm>
            <a:custGeom>
              <a:avLst/>
              <a:gdLst/>
              <a:ahLst/>
              <a:cxnLst/>
              <a:rect r="r" b="b" t="t" l="l"/>
              <a:pathLst>
                <a:path h="9715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44238" y="664893"/>
            <a:ext cx="542925" cy="542925"/>
            <a:chOff x="0" y="0"/>
            <a:chExt cx="723900" cy="723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cubicBezTo>
                    <a:pt x="561848" y="0"/>
                    <a:pt x="723900" y="162052"/>
                    <a:pt x="723900" y="361950"/>
                  </a:cubicBezTo>
                  <a:cubicBezTo>
                    <a:pt x="723900" y="561848"/>
                    <a:pt x="561848" y="723900"/>
                    <a:pt x="361950" y="723900"/>
                  </a:cubicBez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10873" y="8408994"/>
            <a:ext cx="981342" cy="981342"/>
            <a:chOff x="0" y="0"/>
            <a:chExt cx="1308456" cy="1308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8354" cy="1308354"/>
            </a:xfrm>
            <a:custGeom>
              <a:avLst/>
              <a:gdLst/>
              <a:ahLst/>
              <a:cxnLst/>
              <a:rect r="r" b="b" t="t" l="l"/>
              <a:pathLst>
                <a:path h="1308354" w="1308354">
                  <a:moveTo>
                    <a:pt x="0" y="654177"/>
                  </a:moveTo>
                  <a:cubicBezTo>
                    <a:pt x="0" y="292862"/>
                    <a:pt x="292862" y="0"/>
                    <a:pt x="654177" y="0"/>
                  </a:cubicBezTo>
                  <a:cubicBezTo>
                    <a:pt x="1015492" y="0"/>
                    <a:pt x="1308354" y="292862"/>
                    <a:pt x="1308354" y="654177"/>
                  </a:cubicBezTo>
                  <a:cubicBezTo>
                    <a:pt x="1308354" y="1015492"/>
                    <a:pt x="1015492" y="1308354"/>
                    <a:pt x="654177" y="1308354"/>
                  </a:cubicBezTo>
                  <a:cubicBezTo>
                    <a:pt x="292862" y="1308354"/>
                    <a:pt x="0" y="1015492"/>
                    <a:pt x="0" y="654177"/>
                  </a:cubicBez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25689" y="9198654"/>
            <a:ext cx="376723" cy="376723"/>
            <a:chOff x="0" y="0"/>
            <a:chExt cx="502298" cy="502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285" cy="502285"/>
            </a:xfrm>
            <a:custGeom>
              <a:avLst/>
              <a:gdLst/>
              <a:ahLst/>
              <a:cxnLst/>
              <a:rect r="r" b="b" t="t" l="l"/>
              <a:pathLst>
                <a:path h="502285" w="502285">
                  <a:moveTo>
                    <a:pt x="0" y="251206"/>
                  </a:moveTo>
                  <a:cubicBezTo>
                    <a:pt x="0" y="112395"/>
                    <a:pt x="112395" y="0"/>
                    <a:pt x="251206" y="0"/>
                  </a:cubicBezTo>
                  <a:cubicBezTo>
                    <a:pt x="390017" y="0"/>
                    <a:pt x="502285" y="112395"/>
                    <a:pt x="502285" y="251206"/>
                  </a:cubicBezTo>
                  <a:cubicBezTo>
                    <a:pt x="502285" y="390017"/>
                    <a:pt x="389890" y="502285"/>
                    <a:pt x="251206" y="502285"/>
                  </a:cubicBezTo>
                  <a:cubicBezTo>
                    <a:pt x="112522" y="502285"/>
                    <a:pt x="0" y="389890"/>
                    <a:pt x="0" y="251206"/>
                  </a:cubicBez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6200" y="5730240"/>
            <a:ext cx="2590800" cy="4515040"/>
            <a:chOff x="0" y="0"/>
            <a:chExt cx="3454400" cy="6020054"/>
          </a:xfrm>
        </p:grpSpPr>
        <p:sp>
          <p:nvSpPr>
            <p:cNvPr name="Freeform 38" id="38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4"/>
              <a:stretch>
                <a:fillRect l="-5923" t="0" r="-592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934976" y="2243761"/>
            <a:ext cx="11273027" cy="459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299" indent="-266650" lvl="1">
              <a:lnSpc>
                <a:spcPts val="4066"/>
              </a:lnSpc>
              <a:buFont typeface="Arial"/>
              <a:buChar char="•"/>
            </a:pPr>
            <a:r>
              <a:rPr lang="en-US" sz="2946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3 — Pandas &amp; NumPy for data cleaning, transformation and aggregation</a:t>
            </a:r>
          </a:p>
          <a:p>
            <a:pPr algn="l" marL="533299" indent="-266650" lvl="1">
              <a:lnSpc>
                <a:spcPts val="4066"/>
              </a:lnSpc>
              <a:buFont typeface="Arial"/>
              <a:buChar char="•"/>
            </a:pPr>
            <a:r>
              <a:rPr lang="en-US" sz="2946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Matplotlib &amp; Seaborn — statistical charts and correlation visualizations</a:t>
            </a:r>
          </a:p>
          <a:p>
            <a:pPr algn="l" marL="533299" indent="-266650" lvl="1">
              <a:lnSpc>
                <a:spcPts val="4066"/>
              </a:lnSpc>
              <a:buFont typeface="Arial"/>
              <a:buChar char="•"/>
            </a:pPr>
            <a:r>
              <a:rPr lang="en-US" sz="2946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Jupyter Notebook — documented, reproducible end-to-end analysis</a:t>
            </a:r>
          </a:p>
          <a:p>
            <a:pPr algn="l" marL="533299" indent="-266650" lvl="1">
              <a:lnSpc>
                <a:spcPts val="4066"/>
              </a:lnSpc>
              <a:buFont typeface="Arial"/>
              <a:buChar char="•"/>
            </a:pPr>
            <a:r>
              <a:rPr lang="en-US" sz="2946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CSV / Microsoft Excel — source dataset (4,000 farm records, 28 features)</a:t>
            </a:r>
          </a:p>
          <a:p>
            <a:pPr algn="l" marL="533299" indent="-266650" lvl="1">
              <a:lnSpc>
                <a:spcPts val="4066"/>
              </a:lnSpc>
              <a:buFont typeface="Arial"/>
              <a:buChar char="•"/>
            </a:pPr>
            <a:r>
              <a:rPr lang="en-US" sz="2946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Git &amp; GitHub — version control and project submission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1600" y="707733"/>
            <a:ext cx="6508630" cy="99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Technology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10167118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RESULTS: Season-wise Data Spread &amp; Yield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3887495"/>
            <a:ext cx="10499998" cy="4375004"/>
            <a:chOff x="0" y="0"/>
            <a:chExt cx="13999997" cy="5833339"/>
          </a:xfrm>
        </p:grpSpPr>
        <p:sp>
          <p:nvSpPr>
            <p:cNvPr name="Freeform 39" id="39" descr="01_season_overview.png"/>
            <p:cNvSpPr/>
            <p:nvPr/>
          </p:nvSpPr>
          <p:spPr>
            <a:xfrm flipH="false" flipV="false" rot="0">
              <a:off x="0" y="0"/>
              <a:ext cx="13999972" cy="5833364"/>
            </a:xfrm>
            <a:custGeom>
              <a:avLst/>
              <a:gdLst/>
              <a:ahLst/>
              <a:cxnLst/>
              <a:rect r="r" b="b" t="t" l="l"/>
              <a:pathLst>
                <a:path h="5833364" w="13999972">
                  <a:moveTo>
                    <a:pt x="0" y="0"/>
                  </a:moveTo>
                  <a:lnTo>
                    <a:pt x="13999972" y="0"/>
                  </a:lnTo>
                  <a:lnTo>
                    <a:pt x="13999972" y="5833364"/>
                  </a:lnTo>
                  <a:lnTo>
                    <a:pt x="0" y="5833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130766" y="3185903"/>
            <a:ext cx="6828653" cy="288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816" b="true">
                <a:solidFill>
                  <a:srgbClr val="1C729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Key Insights</a:t>
            </a:r>
          </a:p>
          <a:p>
            <a:pPr algn="l">
              <a:lnSpc>
                <a:spcPts val="3285"/>
              </a:lnSpc>
            </a:pPr>
            <a:r>
              <a:rPr lang="en-US" sz="219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Kharif has the most farm records (1,779), followed by Rabi (1,627) and Zaid (594).</a:t>
            </a:r>
          </a:p>
          <a:p>
            <a:pPr algn="l">
              <a:lnSpc>
                <a:spcPts val="3285"/>
              </a:lnSpc>
            </a:pPr>
            <a:r>
              <a:rPr lang="en-US" sz="219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Kharif shows the highest average yield (~2.29 t/ha), followed by Rabi (~2.03 t/ha).</a:t>
            </a:r>
          </a:p>
          <a:p>
            <a:pPr algn="l">
              <a:lnSpc>
                <a:spcPts val="3285"/>
              </a:lnSpc>
            </a:pPr>
            <a:r>
              <a:rPr lang="en-US" sz="219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Zaid records the lowest average yield (~1.71 t/ha) despite fewer farms.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10167118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RESULTS: Seasonal Climate Conditions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4500001"/>
            <a:ext cx="10499998" cy="3150003"/>
            <a:chOff x="0" y="0"/>
            <a:chExt cx="13999997" cy="4200004"/>
          </a:xfrm>
        </p:grpSpPr>
        <p:sp>
          <p:nvSpPr>
            <p:cNvPr name="Freeform 39" id="39" descr="02_climate_by_season.png"/>
            <p:cNvSpPr/>
            <p:nvPr/>
          </p:nvSpPr>
          <p:spPr>
            <a:xfrm flipH="false" flipV="false" rot="0">
              <a:off x="0" y="0"/>
              <a:ext cx="13999972" cy="4200017"/>
            </a:xfrm>
            <a:custGeom>
              <a:avLst/>
              <a:gdLst/>
              <a:ahLst/>
              <a:cxnLst/>
              <a:rect r="r" b="b" t="t" l="l"/>
              <a:pathLst>
                <a:path h="4200017" w="13999972">
                  <a:moveTo>
                    <a:pt x="0" y="0"/>
                  </a:moveTo>
                  <a:lnTo>
                    <a:pt x="13999972" y="0"/>
                  </a:lnTo>
                  <a:lnTo>
                    <a:pt x="13999972" y="4200017"/>
                  </a:lnTo>
                  <a:lnTo>
                    <a:pt x="0" y="420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981468" y="3311059"/>
            <a:ext cx="7000000" cy="297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895" b="true">
                <a:solidFill>
                  <a:srgbClr val="1C729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Key Insights</a:t>
            </a:r>
          </a:p>
          <a:p>
            <a:pPr algn="l">
              <a:lnSpc>
                <a:spcPts val="3377"/>
              </a:lnSpc>
            </a:pPr>
            <a:r>
              <a:rPr lang="en-US" sz="225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Kharif receives far more rainfall (~852 mm) than Rabi (~436 mm) or Zaid (~299 mm).</a:t>
            </a:r>
          </a:p>
          <a:p>
            <a:pPr algn="l">
              <a:lnSpc>
                <a:spcPts val="3377"/>
              </a:lnSpc>
            </a:pPr>
            <a:r>
              <a:rPr lang="en-US" sz="225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Zaid is the hottest season (~31°C) but also the driest and least humid.</a:t>
            </a:r>
          </a:p>
          <a:p>
            <a:pPr algn="l">
              <a:lnSpc>
                <a:spcPts val="3377"/>
              </a:lnSpc>
            </a:pPr>
            <a:r>
              <a:rPr lang="en-US" sz="225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Rabi is the coolest season (~23.5°C), suiting winter crops like wheat and pulses.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10167118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RESULTS: Economic Performance by Season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3887495"/>
            <a:ext cx="10499998" cy="4375004"/>
            <a:chOff x="0" y="0"/>
            <a:chExt cx="13999997" cy="5833339"/>
          </a:xfrm>
        </p:grpSpPr>
        <p:sp>
          <p:nvSpPr>
            <p:cNvPr name="Freeform 39" id="39" descr="03_economics_by_season.png"/>
            <p:cNvSpPr/>
            <p:nvPr/>
          </p:nvSpPr>
          <p:spPr>
            <a:xfrm flipH="false" flipV="false" rot="0">
              <a:off x="0" y="0"/>
              <a:ext cx="13999972" cy="5833364"/>
            </a:xfrm>
            <a:custGeom>
              <a:avLst/>
              <a:gdLst/>
              <a:ahLst/>
              <a:cxnLst/>
              <a:rect r="r" b="b" t="t" l="l"/>
              <a:pathLst>
                <a:path h="5833364" w="13999972">
                  <a:moveTo>
                    <a:pt x="0" y="0"/>
                  </a:moveTo>
                  <a:lnTo>
                    <a:pt x="13999972" y="0"/>
                  </a:lnTo>
                  <a:lnTo>
                    <a:pt x="13999972" y="5833364"/>
                  </a:lnTo>
                  <a:lnTo>
                    <a:pt x="0" y="5833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981468" y="3092822"/>
            <a:ext cx="6975546" cy="298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2906" b="true">
                <a:solidFill>
                  <a:srgbClr val="1C729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Key Insights</a:t>
            </a:r>
          </a:p>
          <a:p>
            <a:pPr algn="l">
              <a:lnSpc>
                <a:spcPts val="3391"/>
              </a:lnSpc>
            </a:pPr>
            <a:r>
              <a:rPr lang="en-US" sz="226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Average profit is highest in Kharif (~₹1.79 lakh) and turns negative in Zaid (~₹−25K).</a:t>
            </a:r>
          </a:p>
          <a:p>
            <a:pPr algn="l">
              <a:lnSpc>
                <a:spcPts val="3391"/>
              </a:lnSpc>
            </a:pPr>
            <a:r>
              <a:rPr lang="en-US" sz="226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Profit margins average negative in every season — production costs often exceed revenue.</a:t>
            </a:r>
          </a:p>
          <a:p>
            <a:pPr algn="l">
              <a:lnSpc>
                <a:spcPts val="3391"/>
              </a:lnSpc>
            </a:pPr>
            <a:r>
              <a:rPr lang="en-US" sz="226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Zaid shows the widest, most negative profit-margin spread — the riskiest season economically.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10167118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RESULTS: Resource Usage &amp; Water Efficiency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4500001"/>
            <a:ext cx="10499998" cy="3150003"/>
            <a:chOff x="0" y="0"/>
            <a:chExt cx="13999997" cy="4200004"/>
          </a:xfrm>
        </p:grpSpPr>
        <p:sp>
          <p:nvSpPr>
            <p:cNvPr name="Freeform 39" id="39" descr="04_resource_usage.png"/>
            <p:cNvSpPr/>
            <p:nvPr/>
          </p:nvSpPr>
          <p:spPr>
            <a:xfrm flipH="false" flipV="false" rot="0">
              <a:off x="0" y="0"/>
              <a:ext cx="13999972" cy="4200017"/>
            </a:xfrm>
            <a:custGeom>
              <a:avLst/>
              <a:gdLst/>
              <a:ahLst/>
              <a:cxnLst/>
              <a:rect r="r" b="b" t="t" l="l"/>
              <a:pathLst>
                <a:path h="4200017" w="13999972">
                  <a:moveTo>
                    <a:pt x="0" y="0"/>
                  </a:moveTo>
                  <a:lnTo>
                    <a:pt x="13999972" y="0"/>
                  </a:lnTo>
                  <a:lnTo>
                    <a:pt x="13999972" y="4200017"/>
                  </a:lnTo>
                  <a:lnTo>
                    <a:pt x="0" y="420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981468" y="3632008"/>
            <a:ext cx="6998318" cy="289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817" b="true">
                <a:solidFill>
                  <a:srgbClr val="1C729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Key Insights</a:t>
            </a:r>
          </a:p>
          <a:p>
            <a:pPr algn="l">
              <a:lnSpc>
                <a:spcPts val="3286"/>
              </a:lnSpc>
            </a:pPr>
            <a:r>
              <a:rPr lang="en-US" sz="219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Fertilizer use is nearly constant across seasons (~185–187 kg/ha) — not a seasonal differentiator.</a:t>
            </a:r>
          </a:p>
          <a:p>
            <a:pPr algn="l">
              <a:lnSpc>
                <a:spcPts val="3286"/>
              </a:lnSpc>
            </a:pPr>
            <a:r>
              <a:rPr lang="en-US" sz="219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Water efficiency is highest in Kharif (5.89 t/1000m³) and lowest in Zaid (4.41 t/1000m³).</a:t>
            </a:r>
          </a:p>
          <a:p>
            <a:pPr algn="l">
              <a:lnSpc>
                <a:spcPts val="3286"/>
              </a:lnSpc>
            </a:pPr>
            <a:r>
              <a:rPr lang="en-US" sz="219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Water volume used is similar across seasons — efficiency, not volume, separates strong seasons.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10167118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RESULTS: Key Relationships (Correlation Analysis)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2249996"/>
            <a:ext cx="9349997" cy="7650004"/>
            <a:chOff x="0" y="0"/>
            <a:chExt cx="12466663" cy="10200005"/>
          </a:xfrm>
        </p:grpSpPr>
        <p:sp>
          <p:nvSpPr>
            <p:cNvPr name="Freeform 39" id="39" descr="05_correlation_heatmap.png"/>
            <p:cNvSpPr/>
            <p:nvPr/>
          </p:nvSpPr>
          <p:spPr>
            <a:xfrm flipH="false" flipV="false" rot="0">
              <a:off x="0" y="0"/>
              <a:ext cx="12466701" cy="10200005"/>
            </a:xfrm>
            <a:custGeom>
              <a:avLst/>
              <a:gdLst/>
              <a:ahLst/>
              <a:cxnLst/>
              <a:rect r="r" b="b" t="t" l="l"/>
              <a:pathLst>
                <a:path h="10200005" w="12466701">
                  <a:moveTo>
                    <a:pt x="0" y="0"/>
                  </a:moveTo>
                  <a:lnTo>
                    <a:pt x="12466701" y="0"/>
                  </a:lnTo>
                  <a:lnTo>
                    <a:pt x="12466701" y="10200005"/>
                  </a:lnTo>
                  <a:lnTo>
                    <a:pt x="0" y="10200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992183" y="2780119"/>
            <a:ext cx="6653948" cy="464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866" b="true">
                <a:solidFill>
                  <a:srgbClr val="1C729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Key Insights</a:t>
            </a:r>
          </a:p>
          <a:p>
            <a:pPr algn="l">
              <a:lnSpc>
                <a:spcPts val="3344"/>
              </a:lnSpc>
            </a:pPr>
            <a:r>
              <a:rPr lang="en-US" sz="2229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Water efficiency has the strongest positive correlation with yield (r ≈ 0.69).</a:t>
            </a:r>
          </a:p>
          <a:p>
            <a:pPr algn="l">
              <a:lnSpc>
                <a:spcPts val="3344"/>
              </a:lnSpc>
            </a:pPr>
            <a:r>
              <a:rPr lang="en-US" sz="2229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Profit margin correlates positively with yield (r ≈ 0.42); rainfall &amp; soil moisture show weak links.</a:t>
            </a:r>
          </a:p>
          <a:p>
            <a:pPr algn="l">
              <a:lnSpc>
                <a:spcPts val="3344"/>
              </a:lnSpc>
            </a:pPr>
            <a:r>
              <a:rPr lang="en-US" sz="2229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Fertilizer, pesticide use and soil pH show almost no correlation with yield.</a:t>
            </a:r>
          </a:p>
          <a:p>
            <a:pPr algn="l">
              <a:lnSpc>
                <a:spcPts val="3344"/>
              </a:lnSpc>
            </a:pPr>
            <a:r>
              <a:rPr lang="en-US" sz="2229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Overall: YES — the dataset yields clear, actionable insight. It shows irrigation efficiency (not input volume) drives yield, and that Zaid is a consistently high-risk season economically.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scope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080" y="2055019"/>
            <a:ext cx="14249869" cy="559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285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Build a predictive model (regression / ML) to forecast season-wise yield and profit before the season begins.</a:t>
            </a:r>
          </a:p>
          <a:p>
            <a:pPr algn="l">
              <a:lnSpc>
                <a:spcPts val="4446"/>
              </a:lnSpc>
            </a:pPr>
            <a:r>
              <a:rPr lang="en-US" sz="285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Integrate real-time weather forecasts and market-price feeds for dynamic, up-to-date seasonal planning.</a:t>
            </a:r>
          </a:p>
          <a:p>
            <a:pPr algn="l">
              <a:lnSpc>
                <a:spcPts val="4446"/>
              </a:lnSpc>
            </a:pPr>
            <a:r>
              <a:rPr lang="en-US" sz="285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Develop an interactive dashboard (Power BI / Streamlit) so farmers and policymakers can explore results directly.</a:t>
            </a:r>
          </a:p>
          <a:p>
            <a:pPr algn="l">
              <a:lnSpc>
                <a:spcPts val="4446"/>
              </a:lnSpc>
            </a:pPr>
            <a:r>
              <a:rPr lang="en-US" sz="285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Incorporate soil-health and satellite / remote-sensing data for finer-grained seasonal insight.</a:t>
            </a:r>
          </a:p>
          <a:p>
            <a:pPr algn="l">
              <a:lnSpc>
                <a:spcPts val="4446"/>
              </a:lnSpc>
            </a:pPr>
            <a:r>
              <a:rPr lang="en-US" sz="2850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•  Expand the dataset to more states, districts and multiple years to study year-on-year seasonal trends.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2748979" y="3730978"/>
            <a:ext cx="8381787" cy="6272113"/>
          </a:xfrm>
          <a:custGeom>
            <a:avLst/>
            <a:gdLst/>
            <a:ahLst/>
            <a:cxnLst/>
            <a:rect r="r" b="b" t="t" l="l"/>
            <a:pathLst>
              <a:path h="6272113" w="8381787">
                <a:moveTo>
                  <a:pt x="0" y="0"/>
                </a:moveTo>
                <a:lnTo>
                  <a:pt x="8381787" y="0"/>
                </a:lnTo>
                <a:lnTo>
                  <a:pt x="8381787" y="6272113"/>
                </a:lnTo>
                <a:lnTo>
                  <a:pt x="0" y="6272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92" r="0" b="-2192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GitHub Link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3029" y="2540308"/>
            <a:ext cx="14872006" cy="119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Repository: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github.com/deepikasingh28102005-eng/seasonal-agriculture-performance-analysis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105376" y="2353605"/>
            <a:ext cx="10407177" cy="7332391"/>
          </a:xfrm>
          <a:custGeom>
            <a:avLst/>
            <a:gdLst/>
            <a:ahLst/>
            <a:cxnLst/>
            <a:rect r="r" b="b" t="t" l="l"/>
            <a:pathLst>
              <a:path h="7332391" w="10407177">
                <a:moveTo>
                  <a:pt x="0" y="0"/>
                </a:moveTo>
                <a:lnTo>
                  <a:pt x="10407177" y="0"/>
                </a:lnTo>
                <a:lnTo>
                  <a:pt x="10407177" y="7332390"/>
                </a:lnTo>
                <a:lnTo>
                  <a:pt x="0" y="7332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9" r="0" b="-319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05376" y="592074"/>
            <a:ext cx="12344200" cy="124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VOIS Course completion certificate - </a:t>
            </a:r>
          </a:p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Course name- Data Visualization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007" y="5201336"/>
            <a:ext cx="687400" cy="592588"/>
            <a:chOff x="0" y="0"/>
            <a:chExt cx="916534" cy="790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70007" y="3592087"/>
            <a:ext cx="537591" cy="463439"/>
            <a:chOff x="0" y="0"/>
            <a:chExt cx="716788" cy="6179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3974" y="3303299"/>
            <a:ext cx="346034" cy="298304"/>
            <a:chOff x="0" y="0"/>
            <a:chExt cx="461378" cy="3977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7995" y="971550"/>
            <a:ext cx="17010002" cy="1050169"/>
            <a:chOff x="0" y="0"/>
            <a:chExt cx="22680003" cy="14002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80000" cy="1400228"/>
            </a:xfrm>
            <a:custGeom>
              <a:avLst/>
              <a:gdLst/>
              <a:ahLst/>
              <a:cxnLst/>
              <a:rect r="r" b="b" t="t" l="l"/>
              <a:pathLst>
                <a:path h="1400228" w="22680000">
                  <a:moveTo>
                    <a:pt x="0" y="0"/>
                  </a:moveTo>
                  <a:lnTo>
                    <a:pt x="22680000" y="0"/>
                  </a:lnTo>
                  <a:lnTo>
                    <a:pt x="22680000" y="1400228"/>
                  </a:lnTo>
                  <a:lnTo>
                    <a:pt x="0" y="140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06" r="0" b="-2656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680003" cy="1409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76"/>
                </a:lnSpc>
              </a:pPr>
              <a:r>
                <a:rPr lang="en-US" sz="6480" b="true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41438" y="3036199"/>
            <a:ext cx="13317122" cy="159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Deepika Singh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B.Tech CSE, Jaypee University of Information Technology (JUIT), Solan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Enrollment No. 241030016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Linkedin: www.linkedin.com/in/deepika-singh28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DAHUzzBC4D4</dc:identifier>
  <dcterms:modified xsi:type="dcterms:W3CDTF">2011-08-01T06:04:30Z</dcterms:modified>
  <cp:revision>1</cp:revision>
  <dc:title>Seasonal Agriculture Performance Analysis</dc:title>
</cp:coreProperties>
</file>